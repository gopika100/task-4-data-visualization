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777240"/>
            <a:ext cx="1143000" cy="347472"/>
          </a:xfrm>
          <a:prstGeom prst="roundRect">
            <a:avLst/>
          </a:prstGeom>
          <a:solidFill>
            <a:srgbClr val="5B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Supermart Grocery Sales</a:t>
            </a:r>
            <a:br/>
            <a:r>
              <a:t>Dashboard</a:t>
            </a:r>
          </a:p>
          <a:p>
            <a:pPr>
              <a:defRPr sz="1800">
                <a:solidFill>
                  <a:srgbClr val="D2D4E1"/>
                </a:solidFill>
              </a:defRPr>
            </a:pPr>
            <a:r>
              <a:t>Interactive dashboard design &amp; business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160520"/>
            <a:ext cx="2834640" cy="1143000"/>
          </a:xfrm>
          <a:prstGeom prst="roundRect">
            <a:avLst/>
          </a:prstGeom>
          <a:solidFill>
            <a:srgbClr val="272B40"/>
          </a:solidFill>
          <a:ln>
            <a:solidFill>
              <a:srgbClr val="3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14,956,982</a:t>
            </a:r>
          </a:p>
          <a:p>
            <a:pPr algn="ctr">
              <a:defRPr sz="1000">
                <a:solidFill>
                  <a:srgbClr val="BEC0CD"/>
                </a:solidFill>
              </a:defRPr>
            </a:pPr>
            <a:r>
              <a:t>Total Sales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9352" y="4160520"/>
            <a:ext cx="2834640" cy="1143000"/>
          </a:xfrm>
          <a:prstGeom prst="roundRect">
            <a:avLst/>
          </a:prstGeom>
          <a:solidFill>
            <a:srgbClr val="272B40"/>
          </a:solidFill>
          <a:ln>
            <a:solidFill>
              <a:srgbClr val="3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3,747,121</a:t>
            </a:r>
          </a:p>
          <a:p>
            <a:pPr algn="ctr">
              <a:defRPr sz="1000">
                <a:solidFill>
                  <a:srgbClr val="BEC0CD"/>
                </a:solidFill>
              </a:defRPr>
            </a:pPr>
            <a:r>
              <a:t>Total 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5472" y="4160520"/>
            <a:ext cx="2834640" cy="1143000"/>
          </a:xfrm>
          <a:prstGeom prst="roundRect">
            <a:avLst/>
          </a:prstGeom>
          <a:solidFill>
            <a:srgbClr val="272B40"/>
          </a:solidFill>
          <a:ln>
            <a:solidFill>
              <a:srgbClr val="3F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9,994</a:t>
            </a:r>
          </a:p>
          <a:p>
            <a:pPr algn="ctr">
              <a:defRPr sz="1000">
                <a:solidFill>
                  <a:srgbClr val="BEC0CD"/>
                </a:solidFill>
              </a:defRPr>
            </a:pPr>
            <a:r>
              <a:t>Total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7C4"/>
                </a:solidFill>
              </a:defRPr>
            </a:pPr>
            <a:r>
              <a:t>Created in Tableau Public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30"/>
                </a:solidFill>
              </a:defRPr>
            </a:pPr>
            <a:r>
              <a:t>Activity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26E"/>
                </a:solidFill>
              </a:defRPr>
            </a:pPr>
            <a:r>
              <a:t>Task 4: Dashboard Design — requirements and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234440" cy="347472"/>
          </a:xfrm>
          <a:prstGeom prst="roundRect">
            <a:avLst/>
          </a:prstGeom>
          <a:solidFill>
            <a:srgbClr val="5B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03520" cy="3566160"/>
          </a:xfrm>
          <a:prstGeom prst="roundRect">
            <a:avLst/>
          </a:prstGeom>
          <a:solidFill>
            <a:srgbClr val="F5F6F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5B43DC"/>
                </a:solidFill>
              </a:defRPr>
            </a:pPr>
            <a:r>
              <a:t>Business goal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Design an interactive dashboard for business stakeholders.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Use Tableau to combine KPIs, charts and filters in one view.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Highlight sales, profit, order volume and growth patterns.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Make the dashboard easy to understand and suitable for decision-making.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43000"/>
            <a:ext cx="1371600" cy="347472"/>
          </a:xfrm>
          <a:prstGeom prst="roundRect">
            <a:avLst/>
          </a:prstGeom>
          <a:solidFill>
            <a:srgbClr val="5B4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DELIVERABLES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257800" cy="3566160"/>
          </a:xfrm>
          <a:prstGeom prst="roundRect">
            <a:avLst/>
          </a:prstGeom>
          <a:solidFill>
            <a:srgbClr val="F5F6F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5B43DC"/>
                </a:solidFill>
              </a:defRPr>
            </a:pPr>
            <a:r>
              <a:t>What was built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Interactive Tableau dashboard.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KPI cards for total sales, total profit and total orders.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Time-series analysis of monthly sales.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Category, sub-category and regional analysis.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Filters/slicers for Category and Region.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PPT summary of the completed activity.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26E"/>
                </a:solidFill>
              </a:defRPr>
            </a:pPr>
            <a:r>
              <a:t>Supermart Grocery Sales Dashboard  •  Tableau Public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30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26E"/>
                </a:solidFill>
              </a:defRPr>
            </a:pPr>
            <a:r>
              <a:t>Three headline metrics used to summarize business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965960"/>
          </a:xfrm>
          <a:prstGeom prst="roundRect">
            <a:avLst/>
          </a:prstGeom>
          <a:solidFill>
            <a:srgbClr val="F5F6FB"/>
          </a:solidFill>
          <a:ln>
            <a:solidFill>
              <a:srgbClr val="E0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B43DC"/>
                </a:solidFill>
              </a:defRPr>
            </a:pPr>
            <a:r>
              <a:t>TOTAL SALES</a:t>
            </a:r>
          </a:p>
          <a:p>
            <a:pPr algn="ctr">
              <a:defRPr sz="3000" b="1">
                <a:solidFill>
                  <a:srgbClr val="232630"/>
                </a:solidFill>
              </a:defRPr>
            </a:pPr>
            <a:r>
              <a:t>14,956,982</a:t>
            </a:r>
          </a:p>
          <a:p>
            <a:pPr algn="ctr">
              <a:defRPr sz="1000">
                <a:solidFill>
                  <a:srgbClr val="5F626E"/>
                </a:solidFill>
              </a:defRPr>
            </a:pPr>
            <a:r>
              <a:t>Overall sales generated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7992" y="1417320"/>
            <a:ext cx="3429000" cy="1965960"/>
          </a:xfrm>
          <a:prstGeom prst="roundRect">
            <a:avLst/>
          </a:prstGeom>
          <a:solidFill>
            <a:srgbClr val="F5F6FB"/>
          </a:solidFill>
          <a:ln>
            <a:solidFill>
              <a:srgbClr val="E0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B43DC"/>
                </a:solidFill>
              </a:defRPr>
            </a:pPr>
            <a:r>
              <a:t>TOTAL PROFIT</a:t>
            </a:r>
          </a:p>
          <a:p>
            <a:pPr algn="ctr">
              <a:defRPr sz="3000" b="1">
                <a:solidFill>
                  <a:srgbClr val="232630"/>
                </a:solidFill>
              </a:defRPr>
            </a:pPr>
            <a:r>
              <a:t>3,747,121</a:t>
            </a:r>
          </a:p>
          <a:p>
            <a:pPr algn="ctr">
              <a:defRPr sz="1000">
                <a:solidFill>
                  <a:srgbClr val="5F626E"/>
                </a:solidFill>
              </a:defRPr>
            </a:pPr>
            <a:r>
              <a:t>Overall profit generated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0183" y="1417320"/>
            <a:ext cx="3429000" cy="1965960"/>
          </a:xfrm>
          <a:prstGeom prst="roundRect">
            <a:avLst/>
          </a:prstGeom>
          <a:solidFill>
            <a:srgbClr val="F5F6FB"/>
          </a:solidFill>
          <a:ln>
            <a:solidFill>
              <a:srgbClr val="E0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B43DC"/>
                </a:solidFill>
              </a:defRPr>
            </a:pPr>
            <a:r>
              <a:t>TOTAL ORDERS</a:t>
            </a:r>
          </a:p>
          <a:p>
            <a:pPr algn="ctr">
              <a:defRPr sz="3000" b="1">
                <a:solidFill>
                  <a:srgbClr val="232630"/>
                </a:solidFill>
              </a:defRPr>
            </a:pPr>
            <a:r>
              <a:t>9,994</a:t>
            </a:r>
          </a:p>
          <a:p>
            <a:pPr algn="ctr">
              <a:defRPr sz="1000">
                <a:solidFill>
                  <a:srgbClr val="5F626E"/>
                </a:solidFill>
              </a:defRPr>
            </a:pPr>
            <a:r>
              <a:t>Orders recorded</a:t>
            </a:r>
          </a:p>
        </p:txBody>
      </p:sp>
      <p:pic>
        <p:nvPicPr>
          <p:cNvPr id="8" name="Picture 7" descr="01_TOTAL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35523"/>
            <a:ext cx="3429000" cy="15758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4035523"/>
            <a:ext cx="3429000" cy="1575873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TOTAL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044955"/>
            <a:ext cx="3429000" cy="155700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89120" y="4044955"/>
            <a:ext cx="3429000" cy="1557009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_TOTAL_OR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048044"/>
            <a:ext cx="3429000" cy="155083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92440" y="4048044"/>
            <a:ext cx="3429000" cy="1550830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26E"/>
                </a:solidFill>
              </a:defRPr>
            </a:pPr>
            <a:r>
              <a:t>Supermart Grocery Sales Dashboard  •  Tableau Public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30"/>
                </a:solidFill>
              </a:defRPr>
            </a:pPr>
            <a:r>
              <a:t>Time-Series Analysis: Monthly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26E"/>
                </a:solidFill>
              </a:defRPr>
            </a:pPr>
            <a:r>
              <a:t>Sales trend across January–December</a:t>
            </a:r>
          </a:p>
        </p:txBody>
      </p:sp>
      <p:pic>
        <p:nvPicPr>
          <p:cNvPr id="5" name="Picture 4" descr="04_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38987"/>
            <a:ext cx="7680960" cy="34829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938987"/>
            <a:ext cx="7680960" cy="3482945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49640" y="1417320"/>
            <a:ext cx="3063240" cy="4343400"/>
          </a:xfrm>
          <a:prstGeom prst="roundRect">
            <a:avLst/>
          </a:prstGeom>
          <a:solidFill>
            <a:srgbClr val="F5F6F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5B43DC"/>
                </a:solidFill>
              </a:defRPr>
            </a:pPr>
            <a:r>
              <a:t>Observed pattern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Sales are comparatively low in January and February.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Sales rise sharply from August to September.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October shows a noticeable dip.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November reaches the highest point, followed by a slight December decline.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26E"/>
                </a:solidFill>
              </a:defRPr>
            </a:pPr>
            <a:r>
              <a:t>Supermart Grocery Sales Dashboard  •  Tableau Public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30"/>
                </a:solidFill>
              </a:defRPr>
            </a:pPr>
            <a:r>
              <a:t>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26E"/>
                </a:solidFill>
              </a:defRPr>
            </a:pPr>
            <a:r>
              <a:t>Compare sales contribution with profit contribution</a:t>
            </a:r>
          </a:p>
        </p:txBody>
      </p:sp>
      <p:pic>
        <p:nvPicPr>
          <p:cNvPr id="5" name="Picture 4" descr="05_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6576"/>
            <a:ext cx="5532120" cy="25020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2246576"/>
            <a:ext cx="5532120" cy="2502007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PROFIT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56915"/>
            <a:ext cx="5486400" cy="24813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2200" y="2256915"/>
            <a:ext cx="5486400" cy="2481329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704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B43DC"/>
                </a:solidFill>
              </a:defRPr>
            </a:pPr>
            <a:r>
              <a:t>Highest sales category: Eggs, Meat &amp; Fish  •  Highest profit category: Snacks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26E"/>
                </a:solidFill>
              </a:defRPr>
            </a:pPr>
            <a:r>
              <a:t>Supermart Grocery Sales Dashboard  •  Tableau Public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30"/>
                </a:solidFill>
              </a:defRPr>
            </a:pPr>
            <a:r>
              <a:t>Top 10 Sub-Categories by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26E"/>
                </a:solidFill>
              </a:defRPr>
            </a:pPr>
            <a:r>
              <a:t>A ranking view to identify the strongest product segments</a:t>
            </a:r>
          </a:p>
        </p:txBody>
      </p:sp>
      <p:pic>
        <p:nvPicPr>
          <p:cNvPr id="5" name="Picture 4" descr="07_TOP_10_SUB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15050"/>
            <a:ext cx="8412480" cy="38222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815050"/>
            <a:ext cx="8412480" cy="3822258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89720" y="1417320"/>
            <a:ext cx="2468880" cy="4389120"/>
          </a:xfrm>
          <a:prstGeom prst="roundRect">
            <a:avLst/>
          </a:prstGeom>
          <a:solidFill>
            <a:srgbClr val="F5F6F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5B43DC"/>
                </a:solidFill>
              </a:defRPr>
            </a:pPr>
            <a:r>
              <a:t>Key takeaways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Health Drinks leads the ranking.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Soft Drinks is a close second.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Cookies, Breads &amp; Buns and Noodles form the next tier.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The chart supports product-level prioritization.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26E"/>
                </a:solidFill>
              </a:defRPr>
            </a:pPr>
            <a:r>
              <a:t>Supermart Grocery Sales Dashboard  •  Tableau Public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30"/>
                </a:solidFill>
              </a:defRPr>
            </a:pPr>
            <a:r>
              <a:t>Regional Sales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26E"/>
                </a:solidFill>
              </a:defRPr>
            </a:pPr>
            <a:r>
              <a:t>Compare sales across Central, East, North, South and West</a:t>
            </a:r>
          </a:p>
        </p:txBody>
      </p:sp>
      <p:pic>
        <p:nvPicPr>
          <p:cNvPr id="5" name="Picture 4" descr="08_SALES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8571"/>
            <a:ext cx="7772400" cy="35152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968571"/>
            <a:ext cx="7772400" cy="3515216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41080" y="1417320"/>
            <a:ext cx="2971800" cy="4343400"/>
          </a:xfrm>
          <a:prstGeom prst="roundRect">
            <a:avLst/>
          </a:prstGeom>
          <a:solidFill>
            <a:srgbClr val="F5F6F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5B43DC"/>
                </a:solidFill>
              </a:defRPr>
            </a:pPr>
            <a:r>
              <a:t>Regional insight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West is the strongest region by sales.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East is the second-largest contributor.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Central and South contribute substantial sales.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North is extremely low relative to the other regions, making it a potential area for investigation.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26E"/>
                </a:solidFill>
              </a:defRPr>
            </a:pPr>
            <a:r>
              <a:t>Supermart Grocery Sales Dashboard  •  Tableau Public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30"/>
                </a:solidFill>
              </a:defRPr>
            </a:pPr>
            <a:r>
              <a:t>Interactivity &amp;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26E"/>
                </a:solidFill>
              </a:defRPr>
            </a:pPr>
            <a:r>
              <a:t>Filters and a consolidated dashboard improve stakeholder usability</a:t>
            </a:r>
          </a:p>
        </p:txBody>
      </p:sp>
      <p:pic>
        <p:nvPicPr>
          <p:cNvPr id="5" name="Picture 4" descr="09_FIN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6767"/>
            <a:ext cx="7498079" cy="3430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2056767"/>
            <a:ext cx="7498079" cy="3430264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1325880"/>
            <a:ext cx="3246120" cy="4709160"/>
          </a:xfrm>
          <a:prstGeom prst="roundRect">
            <a:avLst/>
          </a:prstGeom>
          <a:solidFill>
            <a:srgbClr val="F5F6F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5B43DC"/>
                </a:solidFill>
              </a:defRPr>
            </a:pPr>
            <a:r>
              <a:t>Design choices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Category filter enables focused product analysis.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Region filter enables geographic comparison.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KPI cards provide immediate business context.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Charts cover trend, category, profit and product ranking.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Consistent blue/white styling keeps the dashboard readable.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26E"/>
                </a:solidFill>
              </a:defRPr>
            </a:pPr>
            <a:r>
              <a:t>Supermart Grocery Sales Dashboard  •  Tableau Public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Final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Completed Tableau dashboard combining KPIs, trend and category views</a:t>
            </a:r>
          </a:p>
        </p:txBody>
      </p:sp>
      <p:pic>
        <p:nvPicPr>
          <p:cNvPr id="5" name="Picture 4" descr="09_FIN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60" y="1188720"/>
            <a:ext cx="10693318" cy="4892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6960" y="1188720"/>
            <a:ext cx="10693318" cy="4892040"/>
          </a:xfrm>
          <a:prstGeom prst="rect">
            <a:avLst/>
          </a:prstGeom>
          <a:noFill/>
          <a:ln w="10160">
            <a:solidFill>
              <a:srgbClr val="D7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26E"/>
                </a:solidFill>
              </a:defRPr>
            </a:pPr>
            <a:r>
              <a:t>Supermart Grocery Sales Dashboard  •  Tableau Public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30"/>
                </a:solidFill>
              </a:defRPr>
            </a:pPr>
            <a:r>
              <a:t>Business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26E"/>
                </a:solidFill>
              </a:defRPr>
            </a:pPr>
            <a:r>
              <a:t>What the dashboard communicates to stakeholders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486400" cy="4526280"/>
          </a:xfrm>
          <a:prstGeom prst="roundRect">
            <a:avLst/>
          </a:prstGeom>
          <a:solidFill>
            <a:srgbClr val="F5F6F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5B43DC"/>
                </a:solidFill>
              </a:defRPr>
            </a:pPr>
            <a:r>
              <a:t>Key findings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The dashboard gives a single view of sales, profit and order performance.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Monthly sales show a strong late-year increase, especially in September and November.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Eggs, Meat &amp; Fish leads sales by category, while Snacks has the highest category profit.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Health Drinks and Soft Drinks are the top two sub-categories by sales.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West and East are the strongest regions; North stands out as an area requiring attention.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Filters make the analysis interactive and allow stakeholders to explore categories and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5212080" cy="4526280"/>
          </a:xfrm>
          <a:prstGeom prst="roundRect">
            <a:avLst/>
          </a:prstGeom>
          <a:solidFill>
            <a:srgbClr val="F5F6FB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37160"/>
          <a:lstStyle/>
          <a:p>
            <a:pPr algn="ctr">
              <a:defRPr sz="1600" b="1">
                <a:solidFill>
                  <a:srgbClr val="5B43DC"/>
                </a:solidFill>
              </a:defRPr>
            </a:pPr>
            <a:r>
              <a:t>Dashboard value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KPI cards → quick performance snapshot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Line chart → growth and seasonality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Category charts → product mix and profitability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Top-10 chart → high-performing sub-categories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Regional chart → geographic performance</a:t>
            </a:r>
          </a:p>
          <a:p>
            <a:pPr>
              <a:spcAft>
                <a:spcPts val="700"/>
              </a:spcAft>
              <a:defRPr sz="1300">
                <a:solidFill>
                  <a:srgbClr val="232630"/>
                </a:solidFill>
              </a:defRPr>
            </a:pPr>
            <a:r>
              <a:t>• Interactive filters → stakeholder exploration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B43DC"/>
                </a:solidFill>
              </a:defRPr>
            </a:pPr>
            <a:r>
              <a:t>Overall: the completed Tableau dashboard meets the Task 4 objective of creating an interactive, business-focused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26E"/>
                </a:solidFill>
              </a:defRPr>
            </a:pPr>
            <a:r>
              <a:t>Supermart Grocery Sales Dashboard  •  Tableau Public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